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552" autoAdjust="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1070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7956" y="0"/>
            <a:ext cx="5852160" cy="68580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1E6FEB"/>
          </a:solidFill>
          <a:ln w="12700">
            <a:solidFill>
              <a:srgbClr val="1E6F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94360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1E6FEB">
              <a:alpha val="25000"/>
            </a:srgbClr>
          </a:solidFill>
          <a:ln w="12700">
            <a:solidFill>
              <a:srgbClr val="1E6F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943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00D4FF"/>
                </a:solidFill>
              </a:rPr>
              <a:t>AUTOMATION SOLUTION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3B8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from BOMs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7200" y="2949803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5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BOM Data into DeltaV Architecture Visualizations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3416147"/>
            <a:ext cx="5120640" cy="1005840"/>
          </a:xfrm>
          <a:prstGeom prst="rect">
            <a:avLst/>
          </a:prstGeom>
          <a:solidFill>
            <a:srgbClr val="112244"/>
          </a:solidFill>
          <a:ln w="12700">
            <a:solidFill>
              <a:srgbClr val="1E6F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" y="3347567"/>
            <a:ext cx="5029200" cy="914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5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automation pipeline that ingests BOM spreadsheets, classifies DeltaV components, and generates professional architecture diagrams — eliminating hours of manual engineering work.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" y="4806035"/>
            <a:ext cx="5722764" cy="914400"/>
          </a:xfrm>
          <a:prstGeom prst="rect">
            <a:avLst/>
          </a:prstGeom>
          <a:solidFill>
            <a:srgbClr val="112244"/>
          </a:solidFill>
          <a:ln w="12700">
            <a:solidFill>
              <a:srgbClr val="1122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48326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1E6FEB"/>
                </a:solidFill>
              </a:rPr>
              <a:t>PROJECT TEAM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12648" y="510692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Konde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50108" y="5101877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Rishi Motwani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2648" y="538435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Devansh Kale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150108" y="5400395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Mohammedmunsif Surve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1E6FEB"/>
          </a:solidFill>
          <a:ln w="12700">
            <a:solidFill>
              <a:srgbClr val="1E6F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E6FEB"/>
                </a:solidFill>
              </a:rPr>
              <a:t>WORKFLOW 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→ Solution</a:t>
            </a:r>
            <a:r>
              <a:rPr lang="en-US" sz="3000" b="1" dirty="0">
                <a:solidFill>
                  <a:srgbClr val="3B8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Workflow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303520" cy="1371600"/>
          </a:xfrm>
          <a:prstGeom prst="rect">
            <a:avLst/>
          </a:prstGeom>
          <a:solidFill>
            <a:srgbClr val="1A0A1E"/>
          </a:solidFill>
          <a:ln w="19050">
            <a:solidFill>
              <a:srgbClr val="FF44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54864" cy="1371600"/>
          </a:xfrm>
          <a:prstGeom prst="rect">
            <a:avLst/>
          </a:prstGeom>
          <a:solidFill>
            <a:srgbClr val="FF4466"/>
          </a:solidFill>
          <a:ln w="12700">
            <a:solidFill>
              <a:srgbClr val="FF44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34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FF4466"/>
                </a:solidFill>
              </a:rPr>
              <a:t>PROBLEM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C5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architecture creation from BOMs is slow, repetitive, and error-prone. Engineers spend days analyzing spreadsheets to produce diagrams that could be automated.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760720" y="16642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E6FEB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492240" y="1188720"/>
            <a:ext cx="5303520" cy="1371600"/>
          </a:xfrm>
          <a:prstGeom prst="rect">
            <a:avLst/>
          </a:prstGeom>
          <a:solidFill>
            <a:srgbClr val="0A1E12"/>
          </a:solidFill>
          <a:ln w="19050">
            <a:solidFill>
              <a:srgbClr val="22D3A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1188720"/>
            <a:ext cx="54864" cy="1371600"/>
          </a:xfrm>
          <a:prstGeom prst="rect">
            <a:avLst/>
          </a:prstGeom>
          <a:solidFill>
            <a:srgbClr val="22D3A5"/>
          </a:solidFill>
          <a:ln w="12700">
            <a:solidFill>
              <a:srgbClr val="22D3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1234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22D3A5"/>
                </a:solidFill>
              </a:rPr>
              <a:t>SOLUTION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675120" y="15087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C5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processing pipeline that ingests BOM files, classifies DeltaV components, groups them by cabinet and room, and generates accurate architecture diagrams and reports.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2743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8899BB"/>
                </a:solidFill>
              </a:rPr>
              <a:t>AUTOMATED PROCESSING PIPELINE</a:t>
            </a:r>
            <a:endParaRPr lang="en-US" sz="8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063240"/>
            <a:ext cx="11612880" cy="260604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65760" y="598932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112244"/>
          </a:solidFill>
          <a:ln w="12700">
            <a:solidFill>
              <a:srgbClr val="1E6F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5760" y="5989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FFF"/>
                </a:solidFill>
              </a:rPr>
              <a:t>Python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670048" y="598932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112244"/>
          </a:solidFill>
          <a:ln w="12700">
            <a:solidFill>
              <a:srgbClr val="1E6F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670048" y="5989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FFF"/>
                </a:solidFill>
              </a:rPr>
              <a:t>Streamlit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974336" y="598932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112244"/>
          </a:solidFill>
          <a:ln w="12700">
            <a:solidFill>
              <a:srgbClr val="1E6F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74336" y="5989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FFF"/>
                </a:solidFill>
              </a:rPr>
              <a:t>FastAPI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7278624" y="598932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112244"/>
          </a:solidFill>
          <a:ln w="12700">
            <a:solidFill>
              <a:srgbClr val="1E6F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278624" y="5989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FFF"/>
                </a:solidFill>
              </a:rPr>
              <a:t>Pandas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9582912" y="598932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112244"/>
          </a:solidFill>
          <a:ln w="12700">
            <a:solidFill>
              <a:srgbClr val="1E6F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582912" y="5989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FFF"/>
                </a:solidFill>
              </a:rPr>
              <a:t>python-pptx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1E6FEB">
              <a:alpha val="40000"/>
            </a:srgbClr>
          </a:solidFill>
          <a:ln w="12700">
            <a:solidFill>
              <a:srgbClr val="1E6FEB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1E6FEB"/>
          </a:solidFill>
          <a:ln w="12700">
            <a:solidFill>
              <a:srgbClr val="1E6F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E6FEB"/>
                </a:solidFill>
              </a:rPr>
              <a:t>IMPACT &amp; VALUE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r>
              <a:rPr lang="en-US" sz="3000" b="1" dirty="0">
                <a:solidFill>
                  <a:srgbClr val="3B8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Value Delivered</a:t>
            </a:r>
            <a:endParaRPr lang="en-US" sz="3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88720"/>
            <a:ext cx="5577840" cy="4023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920" y="1188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1E6FEB"/>
                </a:solidFill>
              </a:rPr>
              <a:t>KEY BENEFITS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6217920" y="1554480"/>
            <a:ext cx="5577840" cy="402336"/>
          </a:xfrm>
          <a:prstGeom prst="rect">
            <a:avLst/>
          </a:prstGeom>
          <a:solidFill>
            <a:srgbClr val="112244"/>
          </a:solidFill>
          <a:ln w="12700">
            <a:solidFill>
              <a:srgbClr val="1E6FEB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618488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720840" y="159105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Engineering Effort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217920" y="2029968"/>
            <a:ext cx="5577840" cy="402336"/>
          </a:xfrm>
          <a:prstGeom prst="rect">
            <a:avLst/>
          </a:prstGeom>
          <a:solidFill>
            <a:srgbClr val="112244"/>
          </a:solidFill>
          <a:ln w="12700">
            <a:solidFill>
              <a:srgbClr val="1E6FEB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093976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720840" y="206654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Documentation Cycle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6217920" y="2505456"/>
            <a:ext cx="5577840" cy="402336"/>
          </a:xfrm>
          <a:prstGeom prst="rect">
            <a:avLst/>
          </a:prstGeom>
          <a:solidFill>
            <a:srgbClr val="112244"/>
          </a:solidFill>
          <a:ln w="12700">
            <a:solidFill>
              <a:srgbClr val="1E6FEB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569464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20840" y="254203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Accuracy &amp; Consistency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6217920" y="2980944"/>
            <a:ext cx="5577840" cy="402336"/>
          </a:xfrm>
          <a:prstGeom prst="rect">
            <a:avLst/>
          </a:prstGeom>
          <a:solidFill>
            <a:srgbClr val="112244"/>
          </a:solidFill>
          <a:ln w="12700">
            <a:solidFill>
              <a:srgbClr val="1E6FEB"/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044952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720840" y="301752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Professional Outputs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6217920" y="3456432"/>
            <a:ext cx="5577840" cy="402336"/>
          </a:xfrm>
          <a:prstGeom prst="rect">
            <a:avLst/>
          </a:prstGeom>
          <a:solidFill>
            <a:srgbClr val="112244"/>
          </a:solidFill>
          <a:ln w="12700">
            <a:solidFill>
              <a:srgbClr val="1E6FEB"/>
            </a:solidFill>
            <a:prstDash val="solid"/>
          </a:ln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520440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720840" y="349300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for Large Industrial Projects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6217920" y="4069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0D4FF"/>
                </a:solidFill>
              </a:rPr>
              <a:t>FUTURE SCOPE</a:t>
            </a:r>
            <a:endParaRPr lang="en-US" sz="800" dirty="0"/>
          </a:p>
        </p:txBody>
      </p:sp>
      <p:sp>
        <p:nvSpPr>
          <p:cNvPr id="23" name="Shape 15"/>
          <p:cNvSpPr/>
          <p:nvPr/>
        </p:nvSpPr>
        <p:spPr>
          <a:xfrm>
            <a:off x="6217920" y="438912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112244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4453128"/>
            <a:ext cx="320040" cy="32004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263640" y="4754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5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Component Classification</a:t>
            </a:r>
            <a:endParaRPr lang="en-US" sz="850" dirty="0"/>
          </a:p>
        </p:txBody>
      </p:sp>
      <p:sp>
        <p:nvSpPr>
          <p:cNvPr id="26" name="Shape 17"/>
          <p:cNvSpPr/>
          <p:nvPr/>
        </p:nvSpPr>
        <p:spPr>
          <a:xfrm>
            <a:off x="8183880" y="438912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112244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0" y="4453128"/>
            <a:ext cx="320040" cy="32004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8229600" y="4754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5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for Additional Control Systems</a:t>
            </a:r>
            <a:endParaRPr lang="en-US" sz="850" dirty="0"/>
          </a:p>
        </p:txBody>
      </p:sp>
      <p:sp>
        <p:nvSpPr>
          <p:cNvPr id="29" name="Shape 19"/>
          <p:cNvSpPr/>
          <p:nvPr/>
        </p:nvSpPr>
        <p:spPr>
          <a:xfrm>
            <a:off x="10149840" y="438912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112244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35640" y="4453128"/>
            <a:ext cx="320040" cy="32004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10195560" y="4754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5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&amp; Advanced Analytics</a:t>
            </a:r>
            <a:endParaRPr lang="en-US" sz="850" dirty="0"/>
          </a:p>
        </p:txBody>
      </p:sp>
      <p:sp>
        <p:nvSpPr>
          <p:cNvPr id="32" name="Shape 21"/>
          <p:cNvSpPr/>
          <p:nvPr/>
        </p:nvSpPr>
        <p:spPr>
          <a:xfrm>
            <a:off x="0" y="5623560"/>
            <a:ext cx="12161520" cy="960120"/>
          </a:xfrm>
          <a:prstGeom prst="rect">
            <a:avLst/>
          </a:prstGeom>
          <a:solidFill>
            <a:srgbClr val="0D4FC0"/>
          </a:solidFill>
          <a:ln w="12700">
            <a:solidFill>
              <a:srgbClr val="0D4FC0"/>
            </a:solidFill>
            <a:prstDash val="solid"/>
          </a:ln>
        </p:spPr>
      </p:sp>
      <p:sp>
        <p:nvSpPr>
          <p:cNvPr id="33" name="Shape 22"/>
          <p:cNvSpPr/>
          <p:nvPr/>
        </p:nvSpPr>
        <p:spPr>
          <a:xfrm>
            <a:off x="0" y="5623560"/>
            <a:ext cx="73152" cy="9601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4" name="Text 23"/>
          <p:cNvSpPr/>
          <p:nvPr/>
        </p:nvSpPr>
        <p:spPr>
          <a:xfrm>
            <a:off x="274320" y="5669280"/>
            <a:ext cx="11612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BOM Data to Architecture Insights — Automated, Accurate, Scalable.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180</Words>
  <Application>Microsoft Office PowerPoint</Application>
  <PresentationFormat>Widescreen</PresentationFormat>
  <Paragraphs>40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harsh</cp:lastModifiedBy>
  <cp:revision>2</cp:revision>
  <dcterms:created xsi:type="dcterms:W3CDTF">2026-05-29T15:30:02Z</dcterms:created>
  <dcterms:modified xsi:type="dcterms:W3CDTF">2026-05-29T15:35:09Z</dcterms:modified>
</cp:coreProperties>
</file>