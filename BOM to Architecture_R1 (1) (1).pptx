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0C94F-1EC6-E7D6-B424-1E61FA472A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857A6-E605-B10C-4523-53E17D3AE2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4EF30-288B-F68C-EBAA-B98811D5D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CEFD8-47B4-4828-8B6B-2B4BBE50EF3F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33013-329E-36CC-672E-62D879772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77972-8388-BEB2-6CB6-116A047F7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6CADC-7D53-4E91-9145-4BB4A9440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934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EE474-D02D-6C0D-BE62-AEC6531E4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E1A86-9F90-36A9-50A0-3F12FEE64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B9D5C-D660-C73E-1535-5F64FBA79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CEFD8-47B4-4828-8B6B-2B4BBE50EF3F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B6ED6-D691-AF3D-ADFB-EDDA95027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AD77A-6863-7996-ADCC-6961F4A98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6CADC-7D53-4E91-9145-4BB4A9440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593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58B50-22E6-8859-8FCE-8C83A7398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6950E-4B77-E890-6954-4B18AE73D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EC74E-855E-40CB-AE0E-0EAA1D75E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CEFD8-47B4-4828-8B6B-2B4BBE50EF3F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A7F1A-6C2C-AD8C-DEC0-E479E80D2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277FD-AFAA-DED6-8EE3-394240230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6CADC-7D53-4E91-9145-4BB4A9440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454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4C607-E2B6-25C7-CF0B-C7C67E24E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4796C-20C7-C666-233B-7D4A69BC3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E088A6-ABF4-DEC7-013C-22DA81147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1C9C41-33CF-15E8-706B-0ED011C25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CEFD8-47B4-4828-8B6B-2B4BBE50EF3F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68BB4-18E8-F0D6-FDF6-2049C9CA8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375E4-D6D9-8AB3-9A02-903012202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6CADC-7D53-4E91-9145-4BB4A9440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580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D0DE2-0952-DE2D-AEDE-B2B75A76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066A0-503A-F035-BE4B-17C13E1D7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19CCEC-A5A2-0EAB-7762-AF4F3FB8F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D3E908-83F2-701A-CCDF-74CFB16F0A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C8F88D-9C1D-B6DF-25BF-3126F789A7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EEB6CF-C573-6E0B-D5EB-9763CFF60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CEFD8-47B4-4828-8B6B-2B4BBE50EF3F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2B5012-E1C9-B1A4-8F61-08DCED00B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D22F6D-3061-F805-8F5D-6E65AFE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6CADC-7D53-4E91-9145-4BB4A9440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918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AC682-62D3-A7B4-54A0-F9D5C0AF4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490B7A-96A0-C036-88A9-B6D349D12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CEFD8-47B4-4828-8B6B-2B4BBE50EF3F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1BE88A-85DD-F3B9-98CF-B9F8BC74D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340254-1829-832B-07C9-AB1428810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6CADC-7D53-4E91-9145-4BB4A9440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894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466AFE-4A5C-19F1-89A5-364F5EAE4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CEFD8-47B4-4828-8B6B-2B4BBE50EF3F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62B8B4-3F6D-FFAB-6A07-2100B4B55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00A4E-2E90-5DDF-1462-B58E19B15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6CADC-7D53-4E91-9145-4BB4A9440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058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BEFCF-B70D-23ED-6DF9-47CD1542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0A813-BCA4-7B17-CF29-D7BAE6172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17C485-FED5-141B-1D4F-844B88245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F0950-4CF9-5B52-192F-B1ACFF036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CEFD8-47B4-4828-8B6B-2B4BBE50EF3F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719D9C-3C8C-9F5C-1766-CB17E2D41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B74FF4-65D2-DB99-1080-FA5AC37B2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6CADC-7D53-4E91-9145-4BB4A9440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822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BE943-B7F4-581E-5EBC-BA6BE7793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297B77-26B8-3C0D-1FB0-F53E61F52E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41372E-3A90-F7F4-7A1A-009A40A433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5906AF-6418-E774-2D89-A4B890D0C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CEFD8-47B4-4828-8B6B-2B4BBE50EF3F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72ADC-274F-F409-11B2-BCEDD668B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81C3D-66CC-9AA5-3A25-2BE99ED74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6CADC-7D53-4E91-9145-4BB4A9440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222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E77AD-B98D-492D-FE96-9781BEA04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E2B828-5248-E4BD-5231-9CE9DF549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8BD16-05CD-D05C-0A44-9A184F2B0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CEFD8-47B4-4828-8B6B-2B4BBE50EF3F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C4174-E0B9-517C-FFD7-E230FF6DA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79CFA-6EEE-B05E-D30F-1AC87223B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6CADC-7D53-4E91-9145-4BB4A9440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315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727E47-8822-4F2A-D436-CB22E70EEA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EE4A1-20D8-CDA2-DFF0-580B2F0DC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8EFFE-4A41-BDB1-D829-6B726CEFE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CEFD8-47B4-4828-8B6B-2B4BBE50EF3F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D65EC-423B-A077-F59B-A8B9FF4FA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320B8-6634-54D4-18C5-FF39306A0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6CADC-7D53-4E91-9145-4BB4A9440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439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F90D31-06F4-0031-6176-3A1114C32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556AC-84FF-16DA-E892-B8F06C9B7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D27B5-8455-EA72-AC2F-5F2680E1A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4CEFD8-47B4-4828-8B6B-2B4BBE50EF3F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B1E30-0766-7D65-6F2D-2F32B8A678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6E098-3D62-4DDC-D32A-3F1BEB959E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B6CADC-7D53-4E91-9145-4BB4A9440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519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6B9A3-40C1-AE05-1521-FDAF17715F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Proposal Architecture Automation</a:t>
            </a:r>
            <a:endParaRPr lang="en-IN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0D94D3-1C6D-115B-1950-80CEA35D37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BOM to Architecture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2507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99FBC-80BC-BDF1-C056-4B8AEA108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277C5-F95F-1CE5-5162-088BF064D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4578"/>
          </a:xfrm>
        </p:spPr>
        <p:txBody>
          <a:bodyPr>
            <a:normAutofit/>
          </a:bodyPr>
          <a:lstStyle/>
          <a:p>
            <a:r>
              <a:rPr lang="en-US" sz="2800" b="1" dirty="0"/>
              <a:t>Objective </a:t>
            </a:r>
            <a:endParaRPr lang="en-IN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7611F0-794B-9036-61DA-703E1B168143}"/>
              </a:ext>
            </a:extLst>
          </p:cNvPr>
          <p:cNvSpPr txBox="1"/>
          <p:nvPr/>
        </p:nvSpPr>
        <p:spPr>
          <a:xfrm>
            <a:off x="993058" y="1671484"/>
            <a:ext cx="98125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Objective of this exercise is to check if based on technical BOM (Synthetic in this case) can architect drawing be drawn in followings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Power Point Slides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Microsoft Visio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AutoCAD Drawing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your reference  BOM &amp; Typical architecture is provided in next slides.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580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E108D-6D24-373A-3E42-25791136E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89B06-1806-F389-8873-4A353EE6B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4578"/>
          </a:xfrm>
        </p:spPr>
        <p:txBody>
          <a:bodyPr>
            <a:normAutofit/>
          </a:bodyPr>
          <a:lstStyle/>
          <a:p>
            <a:r>
              <a:rPr lang="en-US" sz="2800" dirty="0"/>
              <a:t>BOM (Synthetic)</a:t>
            </a:r>
            <a:endParaRPr lang="en-IN" sz="2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58FAEAA-03D0-0B5D-3D0C-F1BD6F4FAFCE}"/>
              </a:ext>
            </a:extLst>
          </p:cNvPr>
          <p:cNvGraphicFramePr>
            <a:graphicFrameLocks noGrp="1"/>
          </p:cNvGraphicFramePr>
          <p:nvPr/>
        </p:nvGraphicFramePr>
        <p:xfrm>
          <a:off x="953730" y="1337186"/>
          <a:ext cx="10400070" cy="5053768"/>
        </p:xfrm>
        <a:graphic>
          <a:graphicData uri="http://schemas.openxmlformats.org/drawingml/2006/table">
            <a:tbl>
              <a:tblPr/>
              <a:tblGrid>
                <a:gridCol w="936007">
                  <a:extLst>
                    <a:ext uri="{9D8B030D-6E8A-4147-A177-3AD203B41FA5}">
                      <a16:colId xmlns:a16="http://schemas.microsoft.com/office/drawing/2014/main" val="2972830157"/>
                    </a:ext>
                  </a:extLst>
                </a:gridCol>
                <a:gridCol w="5220835">
                  <a:extLst>
                    <a:ext uri="{9D8B030D-6E8A-4147-A177-3AD203B41FA5}">
                      <a16:colId xmlns:a16="http://schemas.microsoft.com/office/drawing/2014/main" val="125047871"/>
                    </a:ext>
                  </a:extLst>
                </a:gridCol>
                <a:gridCol w="946406">
                  <a:extLst>
                    <a:ext uri="{9D8B030D-6E8A-4147-A177-3AD203B41FA5}">
                      <a16:colId xmlns:a16="http://schemas.microsoft.com/office/drawing/2014/main" val="1501019817"/>
                    </a:ext>
                  </a:extLst>
                </a:gridCol>
                <a:gridCol w="1310409">
                  <a:extLst>
                    <a:ext uri="{9D8B030D-6E8A-4147-A177-3AD203B41FA5}">
                      <a16:colId xmlns:a16="http://schemas.microsoft.com/office/drawing/2014/main" val="1973410"/>
                    </a:ext>
                  </a:extLst>
                </a:gridCol>
                <a:gridCol w="1986413">
                  <a:extLst>
                    <a:ext uri="{9D8B030D-6E8A-4147-A177-3AD203B41FA5}">
                      <a16:colId xmlns:a16="http://schemas.microsoft.com/office/drawing/2014/main" val="931585867"/>
                    </a:ext>
                  </a:extLst>
                </a:gridCol>
              </a:tblGrid>
              <a:tr h="10583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Sr. No</a:t>
                      </a:r>
                    </a:p>
                  </a:txBody>
                  <a:tcPr marL="3797" marR="3797" marT="379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3797" marR="3797" marT="379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Qty</a:t>
                      </a:r>
                    </a:p>
                  </a:txBody>
                  <a:tcPr marL="3797" marR="3797" marT="379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Category</a:t>
                      </a:r>
                    </a:p>
                  </a:txBody>
                  <a:tcPr marL="3797" marR="3797" marT="379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 Number</a:t>
                      </a:r>
                    </a:p>
                  </a:txBody>
                  <a:tcPr marL="3797" marR="3797" marT="379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2890264"/>
                  </a:ext>
                </a:extLst>
              </a:tr>
              <a:tr h="105838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PDC ROOM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952951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Analog Monitor Input 225 DSTs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MON-DPN-001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9779729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Analog Control Output 50 DSTs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GEN-DPN-002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6418321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Discrete Monitor Input 125 DSTs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MON-DPN-003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292157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Discrete Control Output 75 DSTs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GEN-DPN-004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5301462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ProfessionalPLUS Premium Workstation Software; 500 DST (does not include dongle or softkey)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WS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WS-DPN-005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279603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DeltaV System Softkey, for use with ProfessionalPLUS or ProfessionalPLUS Premium base license order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SWK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SWK-DPN-006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7666683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Sytech Reporter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SW-DPN-007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699067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Redundant PK750 Controller Assembly (includes 2 PK750 Controllers, 1 Carrier, 2 IOPs, and 2 Power Modules)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CNTR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CNTR-DPN-008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155300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DeltaV Controller Redundancy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CNTR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CNTR-DPN-009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178662"/>
                  </a:ext>
                </a:extLst>
              </a:tr>
              <a:tr h="1984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DeltaV Rack Workstation WITHOUT Tera 2 card; Win10 Ent IoT LTSC 2021; Two 512GB Solid State Drives; RAID 1; 16GB RAM; 5 yr warranty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WS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WS-DPN-010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0974267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Analog Input CHARM; 4-20 mA; HART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CHARM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CHARM-DPN-011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9114457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Analog Input CHARM; RTD/Resistance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CHARM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CHARM-DPN-012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188453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Analog Output CHARM; 4-20 mA; HART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CHARM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CHARM-DPN-013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7676959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Discrete Input CHARM; 24 Vdc Dry Contact; Low-side Sense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CHARM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CHARM-DPN-014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243787"/>
                  </a:ext>
                </a:extLst>
              </a:tr>
              <a:tr h="1984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Redundant CIOC Carrier with Copper Ethernet, includes CHARM I/O Carrier with Screw Terminals, Copper I/O Ports, a Baseplate Identifier and a Baseplate Separation Wall. CHARM I/O Cards NOT INCLUDED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CHARM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CHARM-DPN-015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136593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Redundant CIOC2, includes 2 CHARMs I/O Card 2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CHARM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CHARM-DPN-016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000816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CHARM Baseplate Assembly with Standard CHARM Terminal Blocks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CHARM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CHARM-DPN-017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161852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Discrete Output CHARM; 24 Vdc; High-Side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CHARM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CHARM-DPN-018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419003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DIN-rail Stop for Vertical-Mount Carriers and CHARM Baseplates; Box of 5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CHARM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CHARM-DPN-019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495177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Package of Address Plugs 1 through 8 for CHARM Baseplates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CHARM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CHARM-DPN-020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298601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CHARM Baseplate Terminator, Bottom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CHARM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CHARM-DPN-021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5620552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Channel Identifier Labels for CHARM Baseplates; Package of 8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CHARM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CHARM-DPN-022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201155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Relay Output CHARM Terminal Block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CHARM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CHARM-DPN-023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349341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Discrete Input CHARM; 24 Vdc; Isolated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CHARM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CHARM-DPN-024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055325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DeltaV Bulk Power Supply 100-240 VAC to 24 VDC, 20A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PWR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PWR-DPN-025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5295341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DeltaV Bulk Power Supply Redundancy Module,12-28V, 20A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PWR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PWR-DPN-026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5363742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Dual Single Mode Media Converter Assembly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MC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MC-DPN-027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581603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DCS System cum server Cabinet (2100 mm H x 800 mm W x 800 mm D), IP-42,Safe area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CAB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CAB-DPN-028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140783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DCS Marshalling Cabinet (2100 mm H x 800 mm W x 800 mm D), IP-42,Safe area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CAB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CAB-DPN-029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262017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DeltaV Smart Switch; 19-inch Rack mount modular model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SWT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SWT-DPN-030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335968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19" inch rack mounted sliding screen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SCR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SCR-DPN-031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32608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APC UPS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UPS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UPS-DPN-032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0402050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FOPP,din mount,SM,6port,LC duplex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FOPP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FOPP-DPN-033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8249249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Fiber optic cable 5 mtr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FBR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FBR-DPN-034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569366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Hirshman 8 -port rack mount switch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SWT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SWT-DPN-035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497419"/>
                  </a:ext>
                </a:extLst>
              </a:tr>
              <a:tr h="105838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OPERATOR ROOM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1485188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DeltaV Full-sized Tower Workstation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WS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WS-DPN-036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092673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24-inch LED Widescreen Monitor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MON-DPN-037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047471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DeltaV Live Operations Premium Performance Pack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GEN-DPN-038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361256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console for dual screen operator station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CON-DPN-039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896019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Printer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PRT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PRT-DPN-040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008068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 CORE/3 PORT DUPLEX FOPP - RACK MOUNTED SLIDING LIU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FOPP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FOPP-DPN-041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09320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Emerson NextGen Smart Firewall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FW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FW-DPN-042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641651"/>
                  </a:ext>
                </a:extLst>
              </a:tr>
              <a:tr h="10583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797" marR="3797" marT="37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91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0182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9873DC-9090-796F-E636-BC054F3D8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C6F841-A4B9-FF08-B26E-2F746954A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Final Architecture </a:t>
            </a:r>
          </a:p>
        </p:txBody>
      </p:sp>
      <p:pic>
        <p:nvPicPr>
          <p:cNvPr id="5" name="Picture 4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27ADC09F-A7B6-4C00-C866-50957DBCD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816" y="1675227"/>
            <a:ext cx="7416367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102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2965</TotalTime>
  <Words>650</Words>
  <Application>Microsoft Office PowerPoint</Application>
  <PresentationFormat>Widescreen</PresentationFormat>
  <Paragraphs>240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Proposal Architecture Automation</vt:lpstr>
      <vt:lpstr>Objective </vt:lpstr>
      <vt:lpstr>BOM (Synthetic)</vt:lpstr>
      <vt:lpstr>Final Architecture </vt:lpstr>
    </vt:vector>
  </TitlesOfParts>
  <Company>Emerson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Kumbhojkar, Pradeep [EMR/SYSS/PUNE]</dc:creator>
  <cp:lastModifiedBy>Kumbhojkar, Pradeep [EMR/SYSS/PUNE]</cp:lastModifiedBy>
  <cp:revision>16</cp:revision>
  <dcterms:created xsi:type="dcterms:W3CDTF">2026-01-01T06:26:00Z</dcterms:created>
  <dcterms:modified xsi:type="dcterms:W3CDTF">2026-01-22T05:56:30Z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38901aa-f724-46bf-bb4f-aef09392934b_Enabled">
    <vt:lpwstr>true</vt:lpwstr>
  </property>
  <property fmtid="{D5CDD505-2E9C-101B-9397-08002B2CF9AE}" pid="3" name="MSIP_Label_d38901aa-f724-46bf-bb4f-aef09392934b_SetDate">
    <vt:lpwstr>2026-01-01T06:32:35Z</vt:lpwstr>
  </property>
  <property fmtid="{D5CDD505-2E9C-101B-9397-08002B2CF9AE}" pid="4" name="MSIP_Label_d38901aa-f724-46bf-bb4f-aef09392934b_Method">
    <vt:lpwstr>Standard</vt:lpwstr>
  </property>
  <property fmtid="{D5CDD505-2E9C-101B-9397-08002B2CF9AE}" pid="5" name="MSIP_Label_d38901aa-f724-46bf-bb4f-aef09392934b_Name">
    <vt:lpwstr>Internal - No Label</vt:lpwstr>
  </property>
  <property fmtid="{D5CDD505-2E9C-101B-9397-08002B2CF9AE}" pid="6" name="MSIP_Label_d38901aa-f724-46bf-bb4f-aef09392934b_SiteId">
    <vt:lpwstr>eb06985d-06ca-4a17-81da-629ab99f6505</vt:lpwstr>
  </property>
  <property fmtid="{D5CDD505-2E9C-101B-9397-08002B2CF9AE}" pid="7" name="MSIP_Label_d38901aa-f724-46bf-bb4f-aef09392934b_ActionId">
    <vt:lpwstr>bb43f08a-9ae2-4769-8cc7-cc350309637f</vt:lpwstr>
  </property>
  <property fmtid="{D5CDD505-2E9C-101B-9397-08002B2CF9AE}" pid="8" name="MSIP_Label_d38901aa-f724-46bf-bb4f-aef09392934b_ContentBits">
    <vt:lpwstr>0</vt:lpwstr>
  </property>
  <property fmtid="{D5CDD505-2E9C-101B-9397-08002B2CF9AE}" pid="9" name="MSIP_Label_d38901aa-f724-46bf-bb4f-aef09392934b_Tag">
    <vt:lpwstr>10, 3, 0, 1</vt:lpwstr>
  </property>
</Properties>
</file>